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597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512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4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Web Engineering · Project ReMotion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372600" y="64739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4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Marat Davletshin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49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49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EA1FF"/>
          </a:solidFill>
          <a:ln w="12700">
            <a:solidFill>
              <a:srgbClr val="4EA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23444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Frontend-Architekturen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&amp; Refactoring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49808" y="306324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8EA"/>
                </a:solidFill>
              </a:rPr>
              <a:t>Project ReMotion · Advanced Web Engineering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3675888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Von einem großen app.js zu ES Modules – und weiter zu Feature-Based + MVC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0" y="1417320"/>
            <a:ext cx="2880360" cy="822960"/>
          </a:xfrm>
          <a:prstGeom prst="roundRect">
            <a:avLst>
              <a:gd name="adj" fmla="val 8889"/>
            </a:avLst>
          </a:prstGeom>
          <a:solidFill>
            <a:srgbClr val="243B5A"/>
          </a:solidFill>
          <a:ln w="12700">
            <a:solidFill>
              <a:srgbClr val="7FB4FF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66760" y="16459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app.js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36608" y="2258568"/>
            <a:ext cx="457200" cy="384048"/>
          </a:xfrm>
          <a:prstGeom prst="downArrow">
            <a:avLst/>
          </a:prstGeom>
          <a:solidFill>
            <a:srgbClr val="7FB4FF"/>
          </a:solidFill>
          <a:ln w="12700">
            <a:solidFill>
              <a:srgbClr val="7FB4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2788920"/>
            <a:ext cx="2880360" cy="822960"/>
          </a:xfrm>
          <a:prstGeom prst="roundRect">
            <a:avLst>
              <a:gd name="adj" fmla="val 8889"/>
            </a:avLst>
          </a:prstGeom>
          <a:solidFill>
            <a:srgbClr val="1F6FEB"/>
          </a:solidFill>
          <a:ln w="12700">
            <a:solidFill>
              <a:srgbClr val="7FB4FF">
                <a:alpha val="5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66760" y="30175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ES Modules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436608" y="3630168"/>
            <a:ext cx="457200" cy="384048"/>
          </a:xfrm>
          <a:prstGeom prst="downArrow">
            <a:avLst/>
          </a:prstGeom>
          <a:solidFill>
            <a:srgbClr val="7FB4FF"/>
          </a:solidFill>
          <a:ln w="12700">
            <a:solidFill>
              <a:srgbClr val="7FB4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4160520"/>
            <a:ext cx="2880360" cy="822960"/>
          </a:xfrm>
          <a:prstGeom prst="roundRect">
            <a:avLst>
              <a:gd name="adj" fmla="val 8889"/>
            </a:avLst>
          </a:prstGeom>
          <a:solidFill>
            <a:srgbClr val="0E7490"/>
          </a:solidFill>
          <a:ln w="12700">
            <a:solidFill>
              <a:srgbClr val="7FB4FF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43891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Feature + MVC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9808" y="5623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8EA"/>
                </a:solidFill>
              </a:rPr>
              <a:t>Marat Davletshin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49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Klassische Frontend-Architekturen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Grundmuster zur Trennung von Verantwortlichkeiten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5240" dist="50800" dir="2700000" algn="bl" rotWithShape="0">
              <a:srgbClr val="C7CDD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17320"/>
            <a:ext cx="73152" cy="429768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581912"/>
            <a:ext cx="3127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</a:rPr>
              <a:t>MVC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2688" y="1993392"/>
            <a:ext cx="3127248" cy="3566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D2939"/>
                </a:solidFill>
              </a:rPr>
              <a:t>Model</a:t>
            </a:r>
            <a:r>
              <a:rPr lang="en-US" sz="1600" dirty="0">
                <a:solidFill>
                  <a:srgbClr val="1D2939"/>
                </a:solidFill>
              </a:rPr>
              <a:t> verwaltet Daten und Logik.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D2939"/>
                </a:solidFill>
              </a:rPr>
              <a:t>View</a:t>
            </a:r>
            <a:r>
              <a:rPr lang="en-US" sz="1600" dirty="0">
                <a:solidFill>
                  <a:srgbClr val="1D2939"/>
                </a:solidFill>
              </a:rPr>
              <a:t> stellt Informationen dar.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D2939"/>
                </a:solidFill>
              </a:rPr>
              <a:t>Controller</a:t>
            </a:r>
            <a:r>
              <a:rPr lang="en-US" sz="1600" dirty="0">
                <a:solidFill>
                  <a:srgbClr val="1D2939"/>
                </a:solidFill>
              </a:rPr>
              <a:t> verarbeitet Benutzereingaben und koordiniert Model und View.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70832" y="1417320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5240" dist="50800" dir="2700000" algn="bl" rotWithShape="0">
              <a:srgbClr val="C7CDD7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70832" y="1417320"/>
            <a:ext cx="73152" cy="42976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581912"/>
            <a:ext cx="3127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</a:rPr>
              <a:t>MVVM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1993392"/>
            <a:ext cx="3127248" cy="3566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D2939"/>
                </a:solidFill>
              </a:rPr>
              <a:t>Model </a:t>
            </a:r>
            <a:r>
              <a:rPr lang="en-US" sz="1600" dirty="0">
                <a:solidFill>
                  <a:srgbClr val="1D2939"/>
                </a:solidFill>
              </a:rPr>
              <a:t>enthält Daten.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D2939"/>
                </a:solidFill>
              </a:rPr>
              <a:t>View</a:t>
            </a:r>
            <a:r>
              <a:rPr lang="en-US" sz="1600" dirty="0">
                <a:solidFill>
                  <a:srgbClr val="1D2939"/>
                </a:solidFill>
              </a:rPr>
              <a:t> zeigt die Oberfläche.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D2939"/>
                </a:solidFill>
              </a:rPr>
              <a:t>ViewModel</a:t>
            </a:r>
            <a:r>
              <a:rPr lang="en-US" sz="1600" dirty="0">
                <a:solidFill>
                  <a:srgbClr val="1D2939"/>
                </a:solidFill>
              </a:rPr>
              <a:t> bereitet Daten für die View auf und verbindet UI mit Logik.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10144" y="1417320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5240" dist="50800" dir="2700000" algn="bl" rotWithShape="0">
              <a:srgbClr val="C7CDD7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10144" y="1417320"/>
            <a:ext cx="73152" cy="4297680"/>
          </a:xfrm>
          <a:prstGeom prst="rect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11312" y="1581912"/>
            <a:ext cx="31272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</a:rPr>
              <a:t>Layered Architecture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11312" y="1993392"/>
            <a:ext cx="3127248" cy="3566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de-AT" sz="1600" b="1" dirty="0"/>
              <a:t>UI:</a:t>
            </a:r>
            <a:r>
              <a:rPr lang="de-AT" sz="1600" dirty="0"/>
              <a:t> Anzeige und Benutzereingaben</a:t>
            </a:r>
            <a:endParaRPr lang="ru-RU" sz="1600" dirty="0"/>
          </a:p>
          <a:p>
            <a:pPr marL="0" indent="0">
              <a:buNone/>
            </a:pPr>
            <a:br>
              <a:rPr lang="de-AT" sz="1600" dirty="0"/>
            </a:br>
            <a:r>
              <a:rPr lang="de-AT" sz="1600" b="1" dirty="0"/>
              <a:t>Business </a:t>
            </a:r>
            <a:r>
              <a:rPr lang="de-AT" sz="1600" b="1" dirty="0" err="1"/>
              <a:t>Logic</a:t>
            </a:r>
            <a:r>
              <a:rPr lang="de-AT" sz="1600" b="1" dirty="0"/>
              <a:t>:</a:t>
            </a:r>
            <a:r>
              <a:rPr lang="de-AT" sz="1600" dirty="0"/>
              <a:t> verarbeitet die Regeln der Anwendung</a:t>
            </a:r>
            <a:endParaRPr lang="ru-RU" sz="1600" dirty="0"/>
          </a:p>
          <a:p>
            <a:pPr marL="0" indent="0">
              <a:buNone/>
            </a:pPr>
            <a:br>
              <a:rPr lang="de-AT" sz="1600" dirty="0"/>
            </a:br>
            <a:r>
              <a:rPr lang="de-AT" sz="1600" b="1" dirty="0"/>
              <a:t>Data Access:</a:t>
            </a:r>
            <a:r>
              <a:rPr lang="de-AT" sz="1600" dirty="0"/>
              <a:t> lädt und speichert Daten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49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Moderne und skalierbare Ansätze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Weitere Möglichkeiten für größere Frontend-Anwendungen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2999232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5240" dist="50800" dir="2700000" algn="bl" rotWithShape="0">
              <a:srgbClr val="C7CDD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17320"/>
            <a:ext cx="73152" cy="20574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58191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</a:rPr>
              <a:t>Component-Based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2688" y="1993392"/>
            <a:ext cx="265176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D2939"/>
                </a:solidFill>
              </a:rPr>
              <a:t>UI wird aus kleinen, wiederverwendbaren Komponenten </a:t>
            </a:r>
            <a:r>
              <a:rPr lang="en-US" sz="1600" dirty="0" err="1">
                <a:solidFill>
                  <a:srgbClr val="1D2939"/>
                </a:solidFill>
              </a:rPr>
              <a:t>aufgebaut</a:t>
            </a:r>
            <a:r>
              <a:rPr lang="en-US" sz="1600" dirty="0">
                <a:solidFill>
                  <a:srgbClr val="1D2939"/>
                </a:solidFill>
              </a:rPr>
              <a:t>.</a:t>
            </a:r>
            <a:endParaRPr lang="ru-RU" sz="1600" dirty="0">
              <a:solidFill>
                <a:srgbClr val="1D2939"/>
              </a:solidFill>
            </a:endParaRPr>
          </a:p>
          <a:p>
            <a:pPr marL="0" indent="0">
              <a:buNone/>
            </a:pPr>
            <a:endParaRPr lang="ru-RU" sz="1600" dirty="0">
              <a:solidFill>
                <a:srgbClr val="1D2939"/>
              </a:solidFill>
            </a:endParaRPr>
          </a:p>
          <a:p>
            <a:pPr marL="0" indent="0">
              <a:buNone/>
            </a:pPr>
            <a:r>
              <a:rPr lang="de-AT" sz="1600" dirty="0"/>
              <a:t>Beispiel: Header, </a:t>
            </a:r>
            <a:r>
              <a:rPr lang="de-AT" sz="1600" dirty="0" err="1"/>
              <a:t>SearchBar</a:t>
            </a:r>
            <a:r>
              <a:rPr lang="de-AT" sz="1600" dirty="0"/>
              <a:t> oder </a:t>
            </a:r>
            <a:r>
              <a:rPr lang="de-AT" sz="1600" dirty="0" err="1"/>
              <a:t>EvidenceCard</a:t>
            </a:r>
            <a:r>
              <a:rPr lang="de-AT" sz="1600" dirty="0"/>
              <a:t>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33088" y="1417320"/>
            <a:ext cx="2999232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5240" dist="50800" dir="2700000" algn="bl" rotWithShape="0">
              <a:srgbClr val="C7CDD7">
                <a:alpha val="18000"/>
              </a:srgbClr>
            </a:outerShdw>
          </a:effectLst>
        </p:spPr>
        <p:txBody>
          <a:bodyPr/>
          <a:lstStyle/>
          <a:p>
            <a:endParaRPr lang="de-AT" dirty="0"/>
          </a:p>
        </p:txBody>
      </p:sp>
      <p:sp>
        <p:nvSpPr>
          <p:cNvPr id="9" name="Shape 7"/>
          <p:cNvSpPr/>
          <p:nvPr/>
        </p:nvSpPr>
        <p:spPr>
          <a:xfrm>
            <a:off x="4133088" y="1417320"/>
            <a:ext cx="73152" cy="2057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34256" y="158191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</a:rPr>
              <a:t>Feature-Based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334256" y="1993392"/>
            <a:ext cx="265176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de-AT" sz="1600" dirty="0">
                <a:solidFill>
                  <a:srgbClr val="1D2939"/>
                </a:solidFill>
              </a:rPr>
              <a:t>Der Code wird nach Funktionen oder Bereichen organisiert.</a:t>
            </a:r>
          </a:p>
          <a:p>
            <a:pPr marL="0" indent="0">
              <a:buNone/>
            </a:pPr>
            <a:endParaRPr lang="de-AT" sz="1600" dirty="0">
              <a:solidFill>
                <a:srgbClr val="1D2939"/>
              </a:solidFill>
            </a:endParaRPr>
          </a:p>
          <a:p>
            <a:pPr marL="0" indent="0">
              <a:buNone/>
            </a:pPr>
            <a:r>
              <a:rPr lang="de-AT" sz="1600" dirty="0">
                <a:solidFill>
                  <a:srgbClr val="1D2939"/>
                </a:solidFill>
              </a:rPr>
              <a:t>Alles zu einem Feature, z. B. </a:t>
            </a:r>
            <a:r>
              <a:rPr lang="de-AT" sz="1600" dirty="0" err="1">
                <a:solidFill>
                  <a:srgbClr val="1D2939"/>
                </a:solidFill>
              </a:rPr>
              <a:t>Evidence</a:t>
            </a:r>
            <a:r>
              <a:rPr lang="de-AT" sz="1600" dirty="0">
                <a:solidFill>
                  <a:srgbClr val="1D2939"/>
                </a:solidFill>
              </a:rPr>
              <a:t>, bleibt zusammen.</a:t>
            </a:r>
            <a:r>
              <a:rPr lang="en-US" sz="1600" dirty="0">
                <a:solidFill>
                  <a:srgbClr val="1D2939"/>
                </a:solidFill>
              </a:rPr>
              <a:t> </a:t>
            </a:r>
          </a:p>
          <a:p>
            <a:pPr marL="0" indent="0">
              <a:buNone/>
            </a:pP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7534656" y="1417320"/>
            <a:ext cx="2999232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5240" dist="50800" dir="2700000" algn="bl" rotWithShape="0">
              <a:srgbClr val="C7CDD7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534656" y="1417320"/>
            <a:ext cx="73152" cy="2057400"/>
          </a:xfrm>
          <a:prstGeom prst="rect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35824" y="158191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</a:rPr>
              <a:t>Flux / Redux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35824" y="1993392"/>
            <a:ext cx="265176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de-AT" sz="1600" dirty="0"/>
              <a:t>Änderungen laufen kontrolliert über einen zentralen State.</a:t>
            </a:r>
          </a:p>
          <a:p>
            <a:pPr marL="0" indent="0">
              <a:buNone/>
            </a:pPr>
            <a:endParaRPr lang="de-AT" sz="1600" dirty="0"/>
          </a:p>
          <a:p>
            <a:pPr marL="0" indent="0">
              <a:buNone/>
            </a:pPr>
            <a:r>
              <a:rPr lang="de-AT" sz="1600" dirty="0"/>
              <a:t>Zum Beispiel: Benutzeraktion → State ändert sich → UI wird aktualisiert.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432304" y="3886200"/>
            <a:ext cx="2999232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5240" dist="50800" dir="2700000" algn="bl" rotWithShape="0">
              <a:srgbClr val="C7CDD7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32304" y="3886200"/>
            <a:ext cx="73152" cy="2057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33472" y="405079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</a:rPr>
              <a:t>Clean / Hexagonal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633472" y="4462272"/>
            <a:ext cx="265176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de-AT" sz="1600" dirty="0"/>
              <a:t>Die Kernlogik wird von UI und technischen Details getrennt.</a:t>
            </a:r>
          </a:p>
          <a:p>
            <a:pPr marL="0" indent="0">
              <a:buNone/>
            </a:pPr>
            <a:endParaRPr lang="de-AT" sz="1600" dirty="0"/>
          </a:p>
          <a:p>
            <a:pPr marL="0" indent="0">
              <a:buNone/>
            </a:pPr>
            <a:r>
              <a:rPr lang="de-AT" sz="1600" dirty="0"/>
              <a:t>Dadurch kann z. B. </a:t>
            </a:r>
            <a:r>
              <a:rPr lang="de-AT" sz="1600" dirty="0" err="1"/>
              <a:t>localStorage</a:t>
            </a:r>
            <a:r>
              <a:rPr lang="de-AT" sz="1600" dirty="0"/>
              <a:t> oder eine API leichter ausgetauscht werden.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833872" y="3886200"/>
            <a:ext cx="2999232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5240" dist="50800" dir="2700000" algn="bl" rotWithShape="0">
              <a:srgbClr val="C7CDD7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33872" y="3886200"/>
            <a:ext cx="73152" cy="205740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405079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</a:rPr>
              <a:t>Microfrontend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035040" y="4462272"/>
            <a:ext cx="265176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de-AT" sz="1600" dirty="0"/>
              <a:t>Ein großes Frontend wird in mehrere unabhängige Teilanwendungen aufgeteilt.</a:t>
            </a:r>
          </a:p>
          <a:p>
            <a:pPr marL="0" indent="0">
              <a:buNone/>
            </a:pPr>
            <a:r>
              <a:rPr lang="de-AT" sz="1600" dirty="0"/>
              <a:t>Verschiedene Teams können einzelne Bereiche getrennt entwickeln.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49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Meine Architekturentscheidung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Zwei unterschiedliche Ziele – zwei sinnvolle Ebenen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50292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5240" dist="50800" dir="2700000" algn="bl" rotWithShape="0">
              <a:srgbClr val="C7CDD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417320"/>
            <a:ext cx="73152" cy="425196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581912"/>
            <a:ext cx="46817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</a:rPr>
              <a:t>Für die Aufgabenstellung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24128" y="1993392"/>
            <a:ext cx="4681728" cy="3520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D2939"/>
                </a:solidFill>
              </a:rPr>
              <a:t>Modulare Architektur mit nativen ES Modules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D2939"/>
                </a:solidFill>
              </a:rPr>
              <a:t>• app.js aufteilen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D2939"/>
                </a:solidFill>
              </a:rPr>
              <a:t>• klare Module bilden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D2939"/>
                </a:solidFill>
              </a:rPr>
              <a:t>• Verhalten unverändert lassen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D2939"/>
                </a:solidFill>
              </a:rPr>
              <a:t>• kein vollständiges MVC erzwingen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36792" y="1417320"/>
            <a:ext cx="50292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5240" dist="50800" dir="2700000" algn="bl" rotWithShape="0">
              <a:srgbClr val="C7CDD7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36792" y="1417320"/>
            <a:ext cx="73152" cy="42519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581912"/>
            <a:ext cx="46817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</a:rPr>
              <a:t>Für eine Weiterentwicklung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37960" y="1993392"/>
            <a:ext cx="4681728" cy="3520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D2939"/>
                </a:solidFill>
              </a:rPr>
              <a:t>Feature-Based Architecture + MVC innerhalb jedes Features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D2939"/>
                </a:solidFill>
              </a:rPr>
              <a:t>• fachlich zusammengehöriger Code bleibt zusammen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D2939"/>
                </a:solidFill>
              </a:rPr>
              <a:t>• Model / View / Controller trennen Verantwortlichkeiten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D2939"/>
                </a:solidFill>
              </a:rPr>
              <a:t>• klarer Datenfluss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5897880"/>
            <a:ext cx="9555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233A"/>
                </a:solidFill>
              </a:rPr>
              <a:t>Wichtig: Feature-Based und MVC sind keine Gegensätze – sie beantworten unterschiedliche Fragen.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49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Umsetzung laut Aufgabenstellung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Bewusst nur so weit refaktoriert, wie es für Exercise 1 notwendig war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4300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2318"/>
                </a:solidFill>
              </a:rPr>
              <a:t>Vorher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3383280" cy="3383280"/>
          </a:xfrm>
          <a:prstGeom prst="roundRect">
            <a:avLst>
              <a:gd name="adj" fmla="val 1622"/>
            </a:avLst>
          </a:prstGeom>
          <a:solidFill>
            <a:srgbClr val="0D111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929384"/>
            <a:ext cx="3054096" cy="3127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1000 Zeilen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Daten laden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Rendering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Utilities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2880360"/>
            <a:ext cx="1280160" cy="594360"/>
          </a:xfrm>
          <a:prstGeom prst="chevron">
            <a:avLst/>
          </a:prstGeom>
          <a:solidFill>
            <a:srgbClr val="DCEBFF"/>
          </a:solidFill>
          <a:ln w="12700">
            <a:solidFill>
              <a:srgbClr val="9BC2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36592" y="3044952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233A"/>
                </a:solidFill>
              </a:rPr>
              <a:t>Refactor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4652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803C"/>
                </a:solidFill>
              </a:rPr>
              <a:t>Nachher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126480" y="1783080"/>
            <a:ext cx="4754880" cy="3383280"/>
          </a:xfrm>
          <a:prstGeom prst="roundRect">
            <a:avLst>
              <a:gd name="adj" fmla="val 1622"/>
            </a:avLst>
          </a:prstGeom>
          <a:solidFill>
            <a:srgbClr val="0D111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91072" y="1929384"/>
            <a:ext cx="4425696" cy="3127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main.js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app/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modules/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shared/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557784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233A"/>
                </a:solidFill>
              </a:rPr>
              <a:t>Ziel: bessere Struktur mit Native ES Modules – ohne unnötig tief in eine neue Gesamtarchitektur einzusteigen.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49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src/ – zentraler JavaScript-Bereich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Alle JavaScript-Module der Anwendung liegen unter einem gemeinsamen Einstiegspunkt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77240" y="1353312"/>
            <a:ext cx="4800600" cy="4709160"/>
          </a:xfrm>
          <a:prstGeom prst="roundRect">
            <a:avLst>
              <a:gd name="adj" fmla="val 1165"/>
            </a:avLst>
          </a:prstGeom>
          <a:solidFill>
            <a:srgbClr val="0D111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499616"/>
            <a:ext cx="4471416" cy="4453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main.js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app/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data.js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navigation.js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state.js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modules/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dashboard/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evidence/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people/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timeline/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workspace/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shared/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storage.js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utils.js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943600" y="141732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5240" dist="50800" dir="2700000" algn="bl" rotWithShape="0">
              <a:srgbClr val="C7CDD7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0" y="1417320"/>
            <a:ext cx="73152" cy="109728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44768" y="1581912"/>
            <a:ext cx="4773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</a:rPr>
              <a:t>main.js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144768" y="1993392"/>
            <a:ext cx="4773168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1D2939"/>
                </a:solidFill>
              </a:rPr>
              <a:t>Entry Point – startet und verbindet die Anwendung.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5943600" y="269748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5240" dist="50800" dir="2700000" algn="bl" rotWithShape="0">
              <a:srgbClr val="C7CDD7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0" y="2697480"/>
            <a:ext cx="73152" cy="10972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44768" y="2862072"/>
            <a:ext cx="4773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</a:rPr>
              <a:t>app/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44768" y="3273552"/>
            <a:ext cx="4773168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1D2939"/>
                </a:solidFill>
              </a:rPr>
              <a:t>Anwendungsweite Logik: Daten, State und Navigation.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5943600" y="397764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5240" dist="50800" dir="2700000" algn="bl" rotWithShape="0">
              <a:srgbClr val="C7CDD7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0" y="3977640"/>
            <a:ext cx="73152" cy="1097280"/>
          </a:xfrm>
          <a:prstGeom prst="rect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4142232"/>
            <a:ext cx="4773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</a:rPr>
              <a:t>modules/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44768" y="4553712"/>
            <a:ext cx="4773168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1D2939"/>
                </a:solidFill>
              </a:rPr>
              <a:t>Fachliche Bereiche bzw. Views der Anwendung.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5943600" y="525780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5240" dist="50800" dir="2700000" algn="bl" rotWithShape="0">
              <a:srgbClr val="C7CDD7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0" y="5257800"/>
            <a:ext cx="73152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5422392"/>
            <a:ext cx="4773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</a:rPr>
              <a:t>shared/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44768" y="5833872"/>
            <a:ext cx="4773168" cy="45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1D2939"/>
                </a:solidFill>
              </a:rPr>
              <a:t>Gemeinsam verwendete Helfer.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49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main.js – Entry Point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Der Einstiegspunkt lädt die Module und startet die Anwendung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484632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1130" indent="-151130">
              <a:buSzPct val="100000"/>
              <a:buChar char="•"/>
            </a:pPr>
            <a:endParaRPr lang="en-US" sz="1700" dirty="0">
              <a:solidFill>
                <a:srgbClr val="1D2939"/>
              </a:solidFill>
            </a:endParaRPr>
          </a:p>
          <a:p>
            <a:pPr marL="151130" indent="-151130">
              <a:buSzPct val="100000"/>
              <a:buChar char="•"/>
            </a:pPr>
            <a:r>
              <a:rPr lang="en-US" sz="1700" dirty="0" err="1">
                <a:solidFill>
                  <a:srgbClr val="1D2939"/>
                </a:solidFill>
              </a:rPr>
              <a:t>importiert</a:t>
            </a:r>
            <a:r>
              <a:rPr lang="en-US" sz="1700" dirty="0">
                <a:solidFill>
                  <a:srgbClr val="1D2939"/>
                </a:solidFill>
              </a:rPr>
              <a:t> </a:t>
            </a:r>
            <a:r>
              <a:rPr lang="en-US" sz="1700" dirty="0" err="1">
                <a:solidFill>
                  <a:srgbClr val="1D2939"/>
                </a:solidFill>
              </a:rPr>
              <a:t>benötigte</a:t>
            </a:r>
            <a:r>
              <a:rPr lang="en-US" sz="1700" dirty="0">
                <a:solidFill>
                  <a:srgbClr val="1D2939"/>
                </a:solidFill>
              </a:rPr>
              <a:t> Module</a:t>
            </a:r>
          </a:p>
          <a:p>
            <a:pPr marL="151130" indent="-151130">
              <a:buSzPct val="100000"/>
              <a:buChar char="•"/>
            </a:pPr>
            <a:endParaRPr lang="en-US" sz="1700" dirty="0"/>
          </a:p>
          <a:p>
            <a:pPr marL="151130" indent="-151130">
              <a:buSzPct val="100000"/>
              <a:buChar char="•"/>
            </a:pPr>
            <a:r>
              <a:rPr lang="en-US" sz="1700" dirty="0">
                <a:solidFill>
                  <a:srgbClr val="1D2939"/>
                </a:solidFill>
              </a:rPr>
              <a:t>registriert zentrale Event Listener</a:t>
            </a:r>
          </a:p>
          <a:p>
            <a:pPr marL="151130" indent="-151130">
              <a:buSzPct val="100000"/>
              <a:buChar char="•"/>
            </a:pPr>
            <a:endParaRPr lang="en-US" sz="1700" dirty="0"/>
          </a:p>
          <a:p>
            <a:pPr marL="151130" indent="-151130">
              <a:buSzPct val="100000"/>
              <a:buChar char="•"/>
            </a:pPr>
            <a:r>
              <a:rPr lang="en-US" sz="1700" dirty="0">
                <a:solidFill>
                  <a:srgbClr val="1D2939"/>
                </a:solidFill>
              </a:rPr>
              <a:t>startet Datenladen und Navigation</a:t>
            </a:r>
          </a:p>
          <a:p>
            <a:pPr marL="151130" indent="-151130">
              <a:buSzPct val="100000"/>
              <a:buChar char="•"/>
            </a:pPr>
            <a:endParaRPr lang="en-US" sz="1700" dirty="0"/>
          </a:p>
          <a:p>
            <a:pPr marL="151130" indent="-151130">
              <a:buSzPct val="100000"/>
              <a:buChar char="•"/>
            </a:pPr>
            <a:r>
              <a:rPr lang="en-US" sz="1700" dirty="0">
                <a:solidFill>
                  <a:srgbClr val="1D2939"/>
                </a:solidFill>
              </a:rPr>
              <a:t>wird direkt von index.html geladen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89320" y="1554480"/>
            <a:ext cx="5212080" cy="109728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53912" y="1700784"/>
            <a:ext cx="488289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 type="module" src="src/main.js"&gt;&lt;/script&gt;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83880" y="2788920"/>
            <a:ext cx="731520" cy="594360"/>
          </a:xfrm>
          <a:prstGeom prst="downArrow">
            <a:avLst/>
          </a:prstGeom>
          <a:solidFill>
            <a:srgbClr val="9BC2F5"/>
          </a:solidFill>
          <a:ln w="12700">
            <a:solidFill>
              <a:srgbClr val="9BC2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46520" y="3520440"/>
            <a:ext cx="4297680" cy="1920240"/>
          </a:xfrm>
          <a:prstGeom prst="roundRect">
            <a:avLst>
              <a:gd name="adj" fmla="val 2857"/>
            </a:avLst>
          </a:prstGeom>
          <a:solidFill>
            <a:srgbClr val="0D111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11112" y="3666744"/>
            <a:ext cx="3968496" cy="1664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main.js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Anwendung startet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49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app/ – anwendungsweite Logik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Code, der nicht nur zu einem einzelnen Feature gehört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68680" y="1508760"/>
            <a:ext cx="3840480" cy="2194560"/>
          </a:xfrm>
          <a:prstGeom prst="roundRect">
            <a:avLst>
              <a:gd name="adj" fmla="val 2500"/>
            </a:avLst>
          </a:prstGeom>
          <a:solidFill>
            <a:srgbClr val="0D111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3272" y="1655064"/>
            <a:ext cx="3511296" cy="1938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data.js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navigation.js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state.js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74920" y="1417320"/>
            <a:ext cx="5486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5240" dist="50800" dir="2700000" algn="bl" rotWithShape="0">
              <a:srgbClr val="C7CDD7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74920" y="1417320"/>
            <a:ext cx="73152" cy="11430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76088" y="1581912"/>
            <a:ext cx="5138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</a:rPr>
              <a:t>data.js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276088" y="1993392"/>
            <a:ext cx="5138928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D2939"/>
                </a:solidFill>
              </a:rPr>
              <a:t>Lädt die statischen JSON-Daten.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74920" y="2743200"/>
            <a:ext cx="5486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5240" dist="50800" dir="2700000" algn="bl" rotWithShape="0">
              <a:srgbClr val="C7CDD7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74920" y="2743200"/>
            <a:ext cx="73152" cy="1143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76088" y="2907792"/>
            <a:ext cx="5138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</a:rPr>
              <a:t>state.js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76088" y="3319272"/>
            <a:ext cx="5138928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D2939"/>
                </a:solidFill>
              </a:rPr>
              <a:t>Hält gemeinsam verwendete Anwendungsdaten.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74920" y="4069080"/>
            <a:ext cx="5486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5240" dist="50800" dir="2700000" algn="bl" rotWithShape="0">
              <a:srgbClr val="C7CDD7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74920" y="4069080"/>
            <a:ext cx="73152" cy="1143000"/>
          </a:xfrm>
          <a:prstGeom prst="rect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76088" y="4233672"/>
            <a:ext cx="5138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</a:rPr>
              <a:t>navigation.js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76088" y="4645152"/>
            <a:ext cx="5138928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D2939"/>
                </a:solidFill>
              </a:rPr>
              <a:t>Steuert den Wechsel zwischen den Views.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534924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233A"/>
                </a:solidFill>
              </a:rPr>
              <a:t>Gemeinsam genutzte Logik bleibt zentral – Feature-Code bleibt in modules/.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49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data.js – Daten laden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Zugriff auf die statischen JSON-Dateien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4937760" cy="3566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42240" indent="-142240">
              <a:buSzPct val="100000"/>
              <a:buChar char="•"/>
            </a:pPr>
            <a:endParaRPr lang="en-US" sz="1600" dirty="0">
              <a:solidFill>
                <a:srgbClr val="1D2939"/>
              </a:solidFill>
            </a:endParaRPr>
          </a:p>
          <a:p>
            <a:pPr marL="142240" indent="-142240">
              <a:buSzPct val="100000"/>
              <a:buChar char="•"/>
            </a:pPr>
            <a:r>
              <a:rPr lang="en-US" sz="1600" dirty="0" err="1">
                <a:solidFill>
                  <a:srgbClr val="1D2939"/>
                </a:solidFill>
              </a:rPr>
              <a:t>lädt</a:t>
            </a:r>
            <a:r>
              <a:rPr lang="en-US" sz="1600" dirty="0">
                <a:solidFill>
                  <a:srgbClr val="1D2939"/>
                </a:solidFill>
              </a:rPr>
              <a:t> Case, People, Locations, Evidence und Timeline</a:t>
            </a:r>
          </a:p>
          <a:p>
            <a:pPr marL="142240" indent="-142240">
              <a:buSzPct val="100000"/>
              <a:buChar char="•"/>
            </a:pPr>
            <a:endParaRPr lang="en-US" sz="1600" dirty="0"/>
          </a:p>
          <a:p>
            <a:pPr marL="142240" indent="-142240"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</a:rPr>
              <a:t>verwendet fetch()</a:t>
            </a:r>
          </a:p>
          <a:p>
            <a:pPr marL="142240" indent="-142240">
              <a:buSzPct val="100000"/>
              <a:buChar char="•"/>
            </a:pPr>
            <a:endParaRPr lang="en-US" sz="1600" dirty="0"/>
          </a:p>
          <a:p>
            <a:pPr marL="142240" indent="-142240"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</a:rPr>
              <a:t>schreibt geladene Daten in den </a:t>
            </a:r>
            <a:r>
              <a:rPr lang="en-US" sz="1600" dirty="0" err="1">
                <a:solidFill>
                  <a:srgbClr val="1D2939"/>
                </a:solidFill>
              </a:rPr>
              <a:t>gemeinsamen</a:t>
            </a:r>
            <a:r>
              <a:rPr lang="en-US" sz="1600" dirty="0">
                <a:solidFill>
                  <a:srgbClr val="1D2939"/>
                </a:solidFill>
              </a:rPr>
              <a:t> State</a:t>
            </a:r>
          </a:p>
          <a:p>
            <a:pPr marL="142240" indent="-142240">
              <a:buSzPct val="100000"/>
              <a:buChar char="•"/>
            </a:pPr>
            <a:endParaRPr lang="en-US" sz="1600" dirty="0"/>
          </a:p>
          <a:p>
            <a:pPr marL="142240" indent="-142240"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</a:rPr>
              <a:t>behandelt Ladefehler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0" y="1600200"/>
            <a:ext cx="5166360" cy="2286000"/>
          </a:xfrm>
          <a:prstGeom prst="roundRect">
            <a:avLst>
              <a:gd name="adj" fmla="val 2400"/>
            </a:avLst>
          </a:prstGeom>
          <a:solidFill>
            <a:srgbClr val="0D111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08192" y="1746504"/>
            <a:ext cx="4837176" cy="2029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fetch("data/evidence.json")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.then(response =&gt; response.json())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.then(data =&gt; 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Daten in State speichern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0" y="4206240"/>
            <a:ext cx="51663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7490"/>
                </a:solidFill>
              </a:rPr>
              <a:t>Kein Backend: data.js läuft im Browser und lädt nur statische Dateien über HTTP.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49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state.js – gemeinsamer Zustand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Ersetzt viele globale Variablen aus dem ursprünglichen app.js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4297680" cy="3931920"/>
          </a:xfrm>
          <a:prstGeom prst="roundRect">
            <a:avLst>
              <a:gd name="adj" fmla="val 1395"/>
            </a:avLst>
          </a:prstGeom>
          <a:solidFill>
            <a:srgbClr val="0D111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655064"/>
            <a:ext cx="3968496" cy="3675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= {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allEvidence,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allPeople,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allLocations,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allTimeline,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currentPage,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bookmarks,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notesStore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577840" y="150876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5240" dist="50800" dir="2700000" algn="bl" rotWithShape="0">
              <a:srgbClr val="C7CDD7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577840" y="1508760"/>
            <a:ext cx="73152" cy="114300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79008" y="1673352"/>
            <a:ext cx="4773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</a:rPr>
              <a:t>Vorher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79008" y="2084832"/>
            <a:ext cx="4773168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1D2939"/>
                </a:solidFill>
              </a:rPr>
              <a:t>Globale Variablen waren überall direkt erreichbar.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5577840" y="288036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5240" dist="50800" dir="2700000" algn="bl" rotWithShape="0">
              <a:srgbClr val="C7CDD7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77840" y="2880360"/>
            <a:ext cx="73152" cy="1143000"/>
          </a:xfrm>
          <a:prstGeom prst="rect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79008" y="3044952"/>
            <a:ext cx="4773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</a:rPr>
              <a:t>Nachher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779008" y="3456432"/>
            <a:ext cx="4773168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1D2939"/>
                </a:solidFill>
              </a:rPr>
              <a:t>Andere Module müssen state.js explizit importieren.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5623560" y="45720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5233A"/>
                </a:solidFill>
              </a:rPr>
              <a:t>Vorteil: Abhängigkeiten werden sichtbar und kontrollierbarer.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49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navigation.js – Navigation zwischen Views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Zentrale Steuerung des Hash-basierten Routings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68680" y="1508760"/>
            <a:ext cx="3337560" cy="3337560"/>
          </a:xfrm>
          <a:prstGeom prst="roundRect">
            <a:avLst>
              <a:gd name="adj" fmla="val 1644"/>
            </a:avLst>
          </a:prstGeom>
          <a:solidFill>
            <a:srgbClr val="0D111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3272" y="1655064"/>
            <a:ext cx="3008376" cy="3081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#dashboard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#evidence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#people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#timeline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#workspace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754880" y="1554480"/>
            <a:ext cx="5943600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1130" indent="-151130">
              <a:buSzPct val="100000"/>
              <a:buChar char="•"/>
            </a:pPr>
            <a:r>
              <a:rPr lang="en-US" sz="1700" dirty="0">
                <a:solidFill>
                  <a:srgbClr val="1D2939"/>
                </a:solidFill>
              </a:rPr>
              <a:t>liest window.location.hash</a:t>
            </a:r>
            <a:endParaRPr lang="en-US" sz="1700" dirty="0"/>
          </a:p>
          <a:p>
            <a:pPr marL="151130" indent="-151130">
              <a:buSzPct val="100000"/>
              <a:buChar char="•"/>
            </a:pPr>
            <a:r>
              <a:rPr lang="en-US" sz="1700" dirty="0">
                <a:solidFill>
                  <a:srgbClr val="1D2939"/>
                </a:solidFill>
              </a:rPr>
              <a:t>aktiviert die passende View</a:t>
            </a:r>
            <a:endParaRPr lang="en-US" sz="1700" dirty="0"/>
          </a:p>
          <a:p>
            <a:pPr marL="151130" indent="-151130">
              <a:buSzPct val="100000"/>
              <a:buChar char="•"/>
            </a:pPr>
            <a:r>
              <a:rPr lang="en-US" sz="1700" dirty="0">
                <a:solidFill>
                  <a:srgbClr val="1D2939"/>
                </a:solidFill>
              </a:rPr>
              <a:t>setzt den aktiven Navigationsbutton</a:t>
            </a:r>
            <a:endParaRPr lang="en-US" sz="1700" dirty="0"/>
          </a:p>
          <a:p>
            <a:pPr marL="151130" indent="-151130">
              <a:buSzPct val="100000"/>
              <a:buChar char="•"/>
            </a:pPr>
            <a:r>
              <a:rPr lang="en-US" sz="1700" dirty="0">
                <a:solidFill>
                  <a:srgbClr val="1D2939"/>
                </a:solidFill>
              </a:rPr>
              <a:t>ruft den passenden Renderer auf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754880" y="480060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7490"/>
                </a:solidFill>
              </a:rPr>
              <a:t>Die Navigation ist damit von Evidence-, Timeline- oder Workspace-Logik getrennt.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49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modules/ – fachliche Bereiche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Jeder Ordner repräsentiert einen klar abgegrenzten View / Funktionsbereich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4160520" cy="384048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563624"/>
            <a:ext cx="3831336" cy="3584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modules/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dashboard/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evidence/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people/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timeline/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workspace/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349240" y="1261872"/>
            <a:ext cx="54406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5240" dist="50800" dir="2700000" algn="bl" rotWithShape="0">
              <a:srgbClr val="C7CDD7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49240" y="1261872"/>
            <a:ext cx="73152" cy="786384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50408" y="1426464"/>
            <a:ext cx="5093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</a:rPr>
              <a:t>Dashboard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550408" y="1837944"/>
            <a:ext cx="509320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1D2939"/>
                </a:solidFill>
              </a:rPr>
              <a:t>Übersicht &amp; Statistiken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5349240" y="2221992"/>
            <a:ext cx="54406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5240" dist="50800" dir="2700000" algn="bl" rotWithShape="0">
              <a:srgbClr val="C7CDD7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49240" y="2221992"/>
            <a:ext cx="73152" cy="78638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50408" y="2386584"/>
            <a:ext cx="5093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</a:rPr>
              <a:t>Evidence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550408" y="2798064"/>
            <a:ext cx="509320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1D2939"/>
                </a:solidFill>
              </a:rPr>
              <a:t>Suche, Filter, Details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5349240" y="3182112"/>
            <a:ext cx="54406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5240" dist="50800" dir="2700000" algn="bl" rotWithShape="0">
              <a:srgbClr val="C7CDD7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49240" y="3182112"/>
            <a:ext cx="73152" cy="786384"/>
          </a:xfrm>
          <a:prstGeom prst="rect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50408" y="3346704"/>
            <a:ext cx="5093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</a:rPr>
              <a:t>People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550408" y="3758184"/>
            <a:ext cx="509320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1D2939"/>
                </a:solidFill>
              </a:rPr>
              <a:t>Personen &amp; Orte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5349240" y="4142232"/>
            <a:ext cx="54406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5240" dist="50800" dir="2700000" algn="bl" rotWithShape="0">
              <a:srgbClr val="C7CDD7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49240" y="4142232"/>
            <a:ext cx="73152" cy="7863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50408" y="4306824"/>
            <a:ext cx="5093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</a:rPr>
              <a:t>Timeline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550408" y="4718304"/>
            <a:ext cx="509320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1D2939"/>
                </a:solidFill>
              </a:rPr>
              <a:t>Chronologische Ereignisse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5349240" y="5102352"/>
            <a:ext cx="54406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5240" dist="50800" dir="2700000" algn="bl" rotWithShape="0">
              <a:srgbClr val="C7CDD7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49240" y="5102352"/>
            <a:ext cx="73152" cy="786384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50408" y="5266944"/>
            <a:ext cx="5093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</a:rPr>
              <a:t>Workspace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550408" y="5678424"/>
            <a:ext cx="509320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1D2939"/>
                </a:solidFill>
              </a:rPr>
              <a:t>Bookmarks, Notes, Hypothesis</a:t>
            </a:r>
            <a:endParaRPr lang="en-US" sz="122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49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dashboard/dashboard.js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Alles, was direkt zur Dashboard-Ansicht gehört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5486400" cy="4114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42240" indent="-142240"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</a:rPr>
              <a:t>Case-Informationen anzeigen</a:t>
            </a:r>
            <a:endParaRPr lang="en-US" sz="1600" dirty="0"/>
          </a:p>
          <a:p>
            <a:pPr marL="142240" indent="-142240"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</a:rPr>
              <a:t>Statistiken berechnen</a:t>
            </a:r>
            <a:endParaRPr lang="en-US" sz="1600" dirty="0"/>
          </a:p>
          <a:p>
            <a:pPr marL="142240" indent="-142240"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</a:rPr>
              <a:t>Evidence-, People- und Location-Anzahl darstellen</a:t>
            </a:r>
            <a:endParaRPr lang="en-US" sz="1600" dirty="0"/>
          </a:p>
          <a:p>
            <a:pPr marL="142240" indent="-142240"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</a:rPr>
              <a:t>Review-Fortschritt anzeigen</a:t>
            </a:r>
            <a:endParaRPr lang="en-US" sz="1600" dirty="0"/>
          </a:p>
          <a:p>
            <a:pPr marL="142240" indent="-142240"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</a:rPr>
              <a:t>letzte Evidence- und Timeline-Einträge rendern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37960" y="1691640"/>
            <a:ext cx="4206240" cy="3566160"/>
          </a:xfrm>
          <a:prstGeom prst="roundRect">
            <a:avLst>
              <a:gd name="adj" fmla="val 1538"/>
            </a:avLst>
          </a:prstGeom>
          <a:solidFill>
            <a:srgbClr val="0D111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02552" y="1837944"/>
            <a:ext cx="3877056" cy="3310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Summary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Statistics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Progress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Recent Evidence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Recent Timeline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49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evidence/evidence.js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Das größte Feature-Modul der ersten Refactoring-Variante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512064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42240" indent="-142240"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</a:rPr>
              <a:t>Evidence-Liste rendern</a:t>
            </a:r>
            <a:endParaRPr lang="en-US" sz="1600" dirty="0"/>
          </a:p>
          <a:p>
            <a:pPr marL="142240" indent="-142240"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</a:rPr>
              <a:t>Suche und Filter</a:t>
            </a:r>
            <a:endParaRPr lang="en-US" sz="1600" dirty="0"/>
          </a:p>
          <a:p>
            <a:pPr marL="142240" indent="-142240"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</a:rPr>
              <a:t>Sortierung</a:t>
            </a:r>
            <a:endParaRPr lang="en-US" sz="1600" dirty="0"/>
          </a:p>
          <a:p>
            <a:pPr marL="142240" indent="-142240"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</a:rPr>
              <a:t>Detailansicht öffnen</a:t>
            </a:r>
            <a:endParaRPr lang="en-US" sz="1600" dirty="0"/>
          </a:p>
          <a:p>
            <a:pPr marL="142240" indent="-142240"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</a:rPr>
              <a:t>Status und Relevance ändern</a:t>
            </a:r>
            <a:endParaRPr lang="en-US" sz="1600" dirty="0"/>
          </a:p>
          <a:p>
            <a:pPr marL="142240" indent="-142240"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</a:rPr>
              <a:t>Bookmarks und Notes verarbeiten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0" y="1371600"/>
            <a:ext cx="4389120" cy="4251960"/>
          </a:xfrm>
          <a:prstGeom prst="roundRect">
            <a:avLst>
              <a:gd name="adj" fmla="val 1290"/>
            </a:avLst>
          </a:prstGeom>
          <a:solidFill>
            <a:srgbClr val="EAF3FF"/>
          </a:solidFill>
          <a:ln w="12700">
            <a:solidFill>
              <a:srgbClr val="9BC2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20840" y="1691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233A"/>
                </a:solidFill>
              </a:rPr>
              <a:t>Warum später interessant?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720840" y="2331720"/>
            <a:ext cx="3749040" cy="2560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D2939"/>
                </a:solidFill>
              </a:rPr>
              <a:t>Hier liegen noch mehrere Verantwortlichkeiten zusammen.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D2939"/>
                </a:solidFill>
              </a:rPr>
              <a:t>Genau dieses Modul ist ein gutes Beispiel dafür, warum man bei wachsender Komplexität später zusätzlich MVC innerhalb des Features einsetzen kann.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49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people/people.js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Personen und Locations als eigener Funktionsbereich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566928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42240" indent="-142240"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</a:rPr>
              <a:t>Personenprofile rendern</a:t>
            </a:r>
            <a:endParaRPr lang="en-US" sz="1600" dirty="0"/>
          </a:p>
          <a:p>
            <a:pPr marL="142240" indent="-142240"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</a:rPr>
              <a:t>Locations anzeigen</a:t>
            </a:r>
            <a:endParaRPr lang="en-US" sz="1600" dirty="0"/>
          </a:p>
          <a:p>
            <a:pPr marL="142240" indent="-142240"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</a:rPr>
              <a:t>zwischen People und Locations wechseln</a:t>
            </a:r>
            <a:endParaRPr lang="en-US" sz="1600" dirty="0"/>
          </a:p>
          <a:p>
            <a:pPr marL="142240" indent="-142240"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</a:rPr>
              <a:t>Anzahl verknüpfter Evidence-Einträge anzeigen</a:t>
            </a:r>
            <a:endParaRPr lang="en-US" sz="1600" dirty="0"/>
          </a:p>
          <a:p>
            <a:pPr marL="142240" indent="-142240"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</a:rPr>
              <a:t>von einer Person direkt zu Evidence navigieren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720840" y="1828800"/>
            <a:ext cx="3977640" cy="2743200"/>
          </a:xfrm>
          <a:prstGeom prst="roundRect">
            <a:avLst>
              <a:gd name="adj" fmla="val 2000"/>
            </a:avLst>
          </a:prstGeom>
          <a:solidFill>
            <a:srgbClr val="0D111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85432" y="1975104"/>
            <a:ext cx="3648456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People &amp; Locations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People Tab  ↔  Locations Tab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↓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related Evidence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49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timeline/timeline.js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Chronologische Darstellung der Ereignisse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5577840" cy="4023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42240" indent="-142240"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</a:rPr>
              <a:t>Timeline rendern</a:t>
            </a:r>
            <a:endParaRPr lang="en-US" sz="1600" dirty="0"/>
          </a:p>
          <a:p>
            <a:pPr marL="142240" indent="-142240"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</a:rPr>
              <a:t>nach Person, Location oder Typ filtern</a:t>
            </a:r>
            <a:endParaRPr lang="en-US" sz="1600" dirty="0"/>
          </a:p>
          <a:p>
            <a:pPr marL="142240" indent="-142240"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</a:rPr>
              <a:t>Reihenfolge ändern</a:t>
            </a:r>
            <a:endParaRPr lang="en-US" sz="1600" dirty="0"/>
          </a:p>
          <a:p>
            <a:pPr marL="142240" indent="-142240"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</a:rPr>
              <a:t>Location-Namen auflösen</a:t>
            </a:r>
            <a:endParaRPr lang="en-US" sz="1600" dirty="0"/>
          </a:p>
          <a:p>
            <a:pPr marL="142240" indent="-142240"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</a:rPr>
              <a:t>verknüpfte Evidence direkt öffnen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75120" y="1600200"/>
            <a:ext cx="4069080" cy="3474720"/>
          </a:xfrm>
          <a:prstGeom prst="roundRect">
            <a:avLst>
              <a:gd name="adj" fmla="val 1579"/>
            </a:avLst>
          </a:prstGeom>
          <a:solidFill>
            <a:srgbClr val="0D111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39712" y="1746504"/>
            <a:ext cx="3739896" cy="3218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Timeline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09:00  Event A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10:15  Event B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12:30  Event C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49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workspace/workspace.js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Persönlicher Arbeitsbereich des Investigators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5486400" cy="4114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42240" indent="-142240"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</a:rPr>
              <a:t>Bookmarked Evidence anzeigen</a:t>
            </a:r>
            <a:endParaRPr lang="en-US" sz="1600" dirty="0"/>
          </a:p>
          <a:p>
            <a:pPr marL="142240" indent="-142240"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</a:rPr>
              <a:t>persönliche Notes anzeigen</a:t>
            </a:r>
            <a:endParaRPr lang="en-US" sz="1600" dirty="0"/>
          </a:p>
          <a:p>
            <a:pPr marL="142240" indent="-142240"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</a:rPr>
              <a:t>Hypothese bearbeiten</a:t>
            </a:r>
            <a:endParaRPr lang="en-US" sz="1600" dirty="0"/>
          </a:p>
          <a:p>
            <a:pPr marL="142240" indent="-142240"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</a:rPr>
              <a:t>Hypothese speichern und laden</a:t>
            </a:r>
            <a:endParaRPr lang="en-US" sz="1600" dirty="0"/>
          </a:p>
          <a:p>
            <a:pPr marL="142240" indent="-142240"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</a:rPr>
              <a:t>Workspace-Daten für die Darstellung vorbereiten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766560" y="1737360"/>
            <a:ext cx="3840480" cy="3200400"/>
          </a:xfrm>
          <a:prstGeom prst="roundRect">
            <a:avLst>
              <a:gd name="adj" fmla="val 1714"/>
            </a:avLst>
          </a:prstGeom>
          <a:solidFill>
            <a:srgbClr val="0D111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31152" y="1883664"/>
            <a:ext cx="3511296" cy="2944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Workspace</a:t>
            </a: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★ Bookmarks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✎ Notes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Hypothesis</a:t>
            </a: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localStorage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49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shared/ – gemeinsam verwendete Helfer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Code, der zu keinem einzelnen Feature gehört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68680" y="1600200"/>
            <a:ext cx="3931920" cy="2377440"/>
          </a:xfrm>
          <a:prstGeom prst="roundRect">
            <a:avLst>
              <a:gd name="adj" fmla="val 2308"/>
            </a:avLst>
          </a:prstGeom>
          <a:solidFill>
            <a:srgbClr val="0D111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3272" y="1746504"/>
            <a:ext cx="3602736" cy="2121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shared/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storage.js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utils.js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257800" y="1417320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5240" dist="50800" dir="2700000" algn="bl" rotWithShape="0">
              <a:srgbClr val="C7CDD7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257800" y="1417320"/>
            <a:ext cx="73152" cy="150876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58968" y="1581912"/>
            <a:ext cx="4773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</a:rPr>
              <a:t>storage.js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58968" y="1993392"/>
            <a:ext cx="4773168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1D2939"/>
                </a:solidFill>
              </a:rPr>
              <a:t>Kapselt den Zugriff auf localStorage.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5257800" y="3337560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5240" dist="50800" dir="2700000" algn="bl" rotWithShape="0">
              <a:srgbClr val="C7CDD7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257800" y="3337560"/>
            <a:ext cx="73152" cy="1508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58968" y="3502152"/>
            <a:ext cx="4773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</a:rPr>
              <a:t>utils.js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58968" y="3913632"/>
            <a:ext cx="4773168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1D2939"/>
                </a:solidFill>
              </a:rPr>
              <a:t>Kleine wiederverwendbare Hilfsfunktionen.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1097280" y="53035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233A"/>
                </a:solidFill>
              </a:rPr>
              <a:t>Shared bedeutet: mehrfach verwendbar, aber ohne eigene fachliche Verantwortung.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49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storage.js – Browser-Speicher kapseln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Eine gemeinsame Stelle für localStorage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539496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42240" indent="-142240"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</a:rPr>
              <a:t>Bookmarks speichern und laden</a:t>
            </a:r>
            <a:endParaRPr lang="en-US" sz="1600" dirty="0"/>
          </a:p>
          <a:p>
            <a:pPr marL="142240" indent="-142240"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</a:rPr>
              <a:t>Notes speichern und laden</a:t>
            </a:r>
            <a:endParaRPr lang="en-US" sz="1600" dirty="0"/>
          </a:p>
          <a:p>
            <a:pPr marL="142240" indent="-142240"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</a:rPr>
              <a:t>Hypothesis speichern und laden</a:t>
            </a:r>
            <a:endParaRPr lang="en-US" sz="1600" dirty="0"/>
          </a:p>
          <a:p>
            <a:pPr marL="142240" indent="-142240"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</a:rPr>
              <a:t>JSON.stringify / JSON.parse zentral verwenden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0" y="1600200"/>
            <a:ext cx="4206240" cy="2834640"/>
          </a:xfrm>
          <a:prstGeom prst="roundRect">
            <a:avLst>
              <a:gd name="adj" fmla="val 1935"/>
            </a:avLst>
          </a:prstGeom>
          <a:solidFill>
            <a:srgbClr val="0D111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48272" y="1746504"/>
            <a:ext cx="3877056" cy="2578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↓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storage.js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↓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localStorage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37960" y="470916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E7490"/>
                </a:solidFill>
              </a:rPr>
              <a:t>Andere Module müssen dadurch nicht überall direkt localStorage verwenden.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49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utils.js – kleine wiederverwendbare Funktionen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Hilfslogik ohne eigene Feature-Verantwortung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46304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5240" dist="50800" dir="2700000" algn="bl" rotWithShape="0">
              <a:srgbClr val="C7CDD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32588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627632"/>
            <a:ext cx="2898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</a:rPr>
              <a:t>formatDate()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24128" y="2039112"/>
            <a:ext cx="2898648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1D2939"/>
                </a:solidFill>
              </a:rPr>
              <a:t>Zeitstempel einheitlich formatieren.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4480560" y="146304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5240" dist="50800" dir="2700000" algn="bl" rotWithShape="0">
              <a:srgbClr val="C7CDD7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0560" y="1463040"/>
            <a:ext cx="73152" cy="13258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1627632"/>
            <a:ext cx="2898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</a:rPr>
              <a:t>findById()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81728" y="2039112"/>
            <a:ext cx="2898648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1D2939"/>
                </a:solidFill>
              </a:rPr>
              <a:t>Objekte anhand ihrer ID finden.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8138160" y="146304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5240" dist="50800" dir="2700000" algn="bl" rotWithShape="0">
              <a:srgbClr val="C7CDD7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1463040"/>
            <a:ext cx="73152" cy="1325880"/>
          </a:xfrm>
          <a:prstGeom prst="rect">
            <a:avLst/>
          </a:prstGeom>
          <a:solidFill>
            <a:srgbClr val="16803C"/>
          </a:solidFill>
          <a:ln w="12700">
            <a:solidFill>
              <a:srgbClr val="1680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9328" y="1627632"/>
            <a:ext cx="2898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</a:rPr>
              <a:t>Badge Helpers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39328" y="2039112"/>
            <a:ext cx="2898648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1D2939"/>
                </a:solidFill>
              </a:rPr>
              <a:t>CSS-Klassen für Status und Relevance bestimmen.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2651760" y="342900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5240" dist="50800" dir="2700000" algn="bl" rotWithShape="0">
              <a:srgbClr val="C7CDD7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51760" y="3429000"/>
            <a:ext cx="73152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52928" y="3593592"/>
            <a:ext cx="2898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</a:rPr>
              <a:t>Lookup Helpers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852928" y="4005072"/>
            <a:ext cx="2898648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1D2939"/>
                </a:solidFill>
              </a:rPr>
              <a:t>Personen oder Locations zu Daten auflösen.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6309360" y="342900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5240" dist="50800" dir="2700000" algn="bl" rotWithShape="0">
              <a:srgbClr val="C7CDD7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3429000"/>
            <a:ext cx="73152" cy="132588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0528" y="3593592"/>
            <a:ext cx="2898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</a:rPr>
              <a:t>Gemeinsame Nutzung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10528" y="4005072"/>
            <a:ext cx="2898648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1D2939"/>
                </a:solidFill>
              </a:rPr>
              <a:t>Kein Copy &amp; Paste in mehreren Modulen.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49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Ergebnis und nächste Stufe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Die erste Variante erfüllt bewusst die Aufgabenstellung – die zweite untersucht Skalierbarkeit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507492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5240" dist="50800" dir="2700000" algn="bl" rotWithShape="0">
              <a:srgbClr val="C7CDD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25880"/>
            <a:ext cx="73152" cy="429768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490472"/>
            <a:ext cx="47274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</a:rPr>
              <a:t>Exercise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2688" y="1901952"/>
            <a:ext cx="4727448" cy="3566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D2939"/>
                </a:solidFill>
              </a:rPr>
              <a:t>app.js → Native ES Modules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D2939"/>
                </a:solidFill>
              </a:rPr>
              <a:t>• klare Dateigrenzen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D2939"/>
                </a:solidFill>
              </a:rPr>
              <a:t>• weniger globale Abhängigkeiten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D2939"/>
                </a:solidFill>
              </a:rPr>
              <a:t>• verständliche Struktur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D2939"/>
                </a:solidFill>
              </a:rPr>
              <a:t>• Verhalten bleibt grundsätzlich gleich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355080" y="1325880"/>
            <a:ext cx="507492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15240" dist="50800" dir="2700000" algn="bl" rotWithShape="0">
              <a:srgbClr val="C7CDD7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55080" y="1325880"/>
            <a:ext cx="73152" cy="42976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6248" y="1490472"/>
            <a:ext cx="47274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</a:rPr>
              <a:t>Weiterführende Variante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56248" y="1901952"/>
            <a:ext cx="4727448" cy="3566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D2939"/>
                </a:solidFill>
              </a:rPr>
              <a:t>Feature-Based + MVC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D2939"/>
                </a:solidFill>
              </a:rPr>
              <a:t>Evidence/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D2939"/>
                </a:solidFill>
              </a:rPr>
              <a:t>├── evidenceModel.js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D2939"/>
                </a:solidFill>
              </a:rPr>
              <a:t>├── evidenceView.js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D2939"/>
                </a:solidFill>
              </a:rPr>
              <a:t>└── evidenceController.js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D2939"/>
                </a:solidFill>
              </a:rPr>
              <a:t>Mehr Trennung – aber auch mehr Struktur und Dateien.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188720" y="5833872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5233A"/>
                </a:solidFill>
              </a:rPr>
              <a:t>Fazit: Die Architektur sollte zur Größe und zum Ziel der Anwendung passen.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2286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A849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1366</Words>
  <Application>Microsoft Office PowerPoint</Application>
  <PresentationFormat>Widescreen</PresentationFormat>
  <Paragraphs>360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Hochschule Campus Wien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Frontend-Architekturen &amp; Refactoring – Project ReMotion</dc:title>
  <dc:subject>Advanced Web Engineering – Frontend-Architekturen und Refactoring</dc:subject>
  <dc:creator>Marat Davletshin</dc:creator>
  <cp:lastModifiedBy>davletshin081180@gmail.com</cp:lastModifiedBy>
  <cp:revision>6</cp:revision>
  <dcterms:created xsi:type="dcterms:W3CDTF">2026-09-22T10:19:01Z</dcterms:created>
  <dcterms:modified xsi:type="dcterms:W3CDTF">2026-09-22T10:44:01Z</dcterms:modified>
</cp:coreProperties>
</file>